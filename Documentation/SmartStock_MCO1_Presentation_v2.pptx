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sto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548640"/>
            <a:ext cx="1920240" cy="1920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SmartStock+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C8E6C9"/>
                </a:solidFill>
                <a:latin typeface="Segoe UI"/>
              </a:rPr>
              <a:t>Offline-First Inventory &amp; Asset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25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A5D6A7"/>
                </a:solidFill>
                <a:latin typeface="Segoe UI"/>
              </a:rPr>
              <a:t>Team 2  |  Mobile Programming 2  |  Midterm MCO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920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5E9"/>
                </a:solidFill>
                <a:latin typeface="Segoe UI"/>
              </a:rPr>
              <a:t>Jhon Clarence B. Rulona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Cris Gerard O. Carpon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Jasper Keith P. Teorica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Mark Jacob S. Allero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John Dennis Y. Chan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Leopoldo C. Villaflores III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Dustin Aaron D. Tocayon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8920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5E9"/>
                </a:solidFill>
                <a:latin typeface="Segoe UI"/>
              </a:rPr>
              <a:t>Aleah A. Cantiga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Angel Mae S. Dura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Heizel D. Panugaling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Justin Jamaica P. Julaton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Roselyn B. Deguino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Lou Ariane Mae B. Delos Reyes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8F5E9"/>
                </a:solidFill>
                <a:latin typeface="Segoe UI"/>
              </a:rPr>
              <a:t>Rynel Jay V. Vallejos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What SmartStock+ does and who it serves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24242"/>
                </a:solidFill>
                <a:latin typeface="Segoe UI"/>
              </a:rPr>
              <a:t>An Android inventory &amp; asset management
app that lets organizations track equipment,
tools, and supplies on mobile devices
— even without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47472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24242"/>
                </a:solidFill>
                <a:latin typeface="Segoe UI"/>
              </a:rPr>
              <a:t>Replace error-prone paper logs and
spreadsheets with a reliable, portable,
offline-first mobile solution that
ensures data accessibility anytime.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47472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417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Target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24242"/>
                </a:solidFill>
                <a:latin typeface="Segoe UI"/>
              </a:rPr>
              <a:t>School laboratories
IT departments
Student organizations
Small offices &amp; asset custodians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Building a scalable, offline-first mobile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356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71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12121"/>
                </a:solidFill>
                <a:latin typeface="Segoe UI"/>
              </a:rPr>
              <a:t>Scalable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916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Segoe UI"/>
              </a:rPr>
              <a:t>MVVM + Repository pattern separating UI, business logic, and data layers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41448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59736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9572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12121"/>
                </a:solidFill>
                <a:latin typeface="Segoe UI"/>
              </a:rPr>
              <a:t>Offline-First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1576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Segoe UI"/>
              </a:rPr>
              <a:t>Room database ensures full functionality without internet connectivity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65576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483864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1985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12121"/>
                </a:solidFill>
                <a:latin typeface="Segoe UI"/>
              </a:rPr>
              <a:t>Hilt Dependency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39896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Segoe UI"/>
              </a:rPr>
              <a:t>Google's recommended DI framework for clean, automatic dependency management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89704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4398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12121"/>
                </a:solidFill>
                <a:latin typeface="Segoe UI"/>
              </a:rPr>
              <a:t>Role-Based Access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76402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Segoe UI"/>
              </a:rPr>
              <a:t>Admin and Staff roles with granular permission levels (6 permissions each)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513832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532120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46811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12121"/>
                </a:solidFill>
                <a:latin typeface="Segoe UI"/>
              </a:rPr>
              <a:t>Cloud Sync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78815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Segoe UI"/>
              </a:rPr>
              <a:t>Architecture prepared for Supabase integration in MCO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Midterm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MCO 1 deliverables vs MCO 2 planned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8580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858000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MCO 1 - Included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424242"/>
                </a:solidFill>
                <a:latin typeface="Segoe UI"/>
              </a:rPr>
              <a:t>✓  Room Database v7 — 6 entities, full migration chain (v1–v7)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424242"/>
                </a:solidFill>
                <a:latin typeface="Segoe UI"/>
              </a:rPr>
              <a:t>✓  Hilt Dependency Injection (KSP-based approach)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424242"/>
                </a:solidFill>
                <a:latin typeface="Segoe UI"/>
              </a:rPr>
              <a:t>✓  9 Jetpack Compose screens with Material Design 3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424242"/>
                </a:solidFill>
                <a:latin typeface="Segoe UI"/>
              </a:rPr>
              <a:t>✓  MVVM + Repository data flow pattern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424242"/>
                </a:solidFill>
                <a:latin typeface="Segoe UI"/>
              </a:rPr>
              <a:t>✓  Authentication with role-based access (Admin/Staff)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424242"/>
                </a:solidFill>
                <a:latin typeface="Segoe UI"/>
              </a:rPr>
              <a:t>✓  Item usage tracking with destination location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424242"/>
                </a:solidFill>
                <a:latin typeface="Segoe UI"/>
              </a:rPr>
              <a:t>✓  Return item with reason field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424242"/>
                </a:solidFill>
                <a:latin typeface="Segoe UI"/>
              </a:rPr>
              <a:t>✓  Item image capture (camera + gallery)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424242"/>
                </a:solidFill>
                <a:latin typeface="Segoe UI"/>
              </a:rPr>
              <a:t>✓  Barcode / QR code scanning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280160"/>
            <a:ext cx="41148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0" y="1280160"/>
            <a:ext cx="4114800" cy="54864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298448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MCO 2 - Planned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9659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  <a:latin typeface="Segoe UI"/>
              </a:rPr>
              <a:t>○  Supabase cloud API integration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  <a:latin typeface="Segoe UI"/>
              </a:rPr>
              <a:t>○  Remote data synchronization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  <a:latin typeface="Segoe UI"/>
              </a:rPr>
              <a:t>○  Usage reporting with date filters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  <a:latin typeface="Segoe UI"/>
              </a:rPr>
              <a:t>○  WorkManager background sync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  <a:latin typeface="Segoe UI"/>
              </a:rPr>
              <a:t>○  Enhanced barcode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App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MVVM + Repository Pattern with Hilt Dependency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772400" cy="100584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762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UI LAYER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E8F5E9"/>
                </a:solidFill>
                <a:latin typeface="Segoe UI"/>
              </a:rPr>
              <a:t>Jetpack Compose + Material Design 3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>
                <a:solidFill>
                  <a:srgbClr val="C8E6C9"/>
                </a:solidFill>
                <a:latin typeface="Segoe UI"/>
              </a:rPr>
              <a:t>9 Screens  |  collectAsStateWithLifecycle()  |  Adaptive Layouts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3500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16161"/>
                </a:solidFill>
                <a:latin typeface="Consolas"/>
              </a:rPr>
              <a:t>StateFlow ↓  ↑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7772400" cy="10058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762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VIEWMODEL LAYER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E8F5E9"/>
                </a:solidFill>
                <a:latin typeface="Segoe UI"/>
              </a:rPr>
              <a:t>@HiltViewModel + @Inject constructor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>
                <a:solidFill>
                  <a:srgbClr val="C8E6C9"/>
                </a:solidFill>
                <a:latin typeface="Segoe UI"/>
              </a:rPr>
              <a:t>InventoryViewModel  |  DashboardViewModel  |  Role Checks  |  StateFlow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7216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16161"/>
                </a:solidFill>
                <a:latin typeface="Consolas"/>
              </a:rPr>
              <a:t>suspend ↓  ↑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7772400" cy="100584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762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REPOSITORY LAYER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E8F5E9"/>
                </a:solidFill>
                <a:latin typeface="Segoe UI"/>
              </a:rPr>
              <a:t>InventoryRepository(dao, cloudSyncDataSource)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>
                <a:solidFill>
                  <a:srgbClr val="C8E6C9"/>
                </a:solidFill>
                <a:latin typeface="Segoe UI"/>
              </a:rPr>
              <a:t>Single Source of Truth  |  Cloud Sync Ready  |  NoOp Stub for MCO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0932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16161"/>
                </a:solidFill>
                <a:latin typeface="Consolas"/>
              </a:rPr>
              <a:t>suspend ↓  ↑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7772400" cy="100584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762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DATA LAYER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E8F5E9"/>
                </a:solidFill>
                <a:latin typeface="Segoe UI"/>
              </a:rPr>
              <a:t>Room Database v7 (Provided by Hilt @Module @Singleton)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>
                <a:solidFill>
                  <a:srgbClr val="C8E6C9"/>
                </a:solidFill>
                <a:latin typeface="Segoe UI"/>
              </a:rPr>
              <a:t>InventoryDao  |  6 Entities  |  35 Operations  |  6 Migrations  |  Flow Queries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325880"/>
            <a:ext cx="2834640" cy="51206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tlCol="0" anchor="ctr"/>
          <a:lstStyle/>
          <a:p>
            <a:pPr algn="ctr"/>
            <a:r>
              <a:rPr sz="2000" b="1">
                <a:solidFill>
                  <a:srgbClr val="FF6F00"/>
                </a:solidFill>
                <a:latin typeface="Segoe UI"/>
              </a:rPr>
              <a:t>HILT DI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424242"/>
                </a:solidFill>
                <a:latin typeface="Segoe UI"/>
              </a:rPr>
              <a:t>Wires all layers
at compile time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endParaRPr sz="1300" b="0">
              <a:solidFill>
                <a:srgbClr val="424242"/>
              </a:solidFill>
              <a:latin typeface="Segoe UI"/>
            </a:endParaRP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200" b="0">
                <a:solidFill>
                  <a:srgbClr val="FF6F00"/>
                </a:solidFill>
                <a:latin typeface="Consolas"/>
              </a:rPr>
              <a:t>@HiltAndroidApp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200" b="0">
                <a:solidFill>
                  <a:srgbClr val="FF6F00"/>
                </a:solidFill>
                <a:latin typeface="Consolas"/>
              </a:rPr>
              <a:t>@HiltViewModel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200" b="0">
                <a:solidFill>
                  <a:srgbClr val="FF6F00"/>
                </a:solidFill>
                <a:latin typeface="Consolas"/>
              </a:rPr>
              <a:t>@Inject constructor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200" b="0">
                <a:solidFill>
                  <a:srgbClr val="FF6F00"/>
                </a:solidFill>
                <a:latin typeface="Consolas"/>
              </a:rPr>
              <a:t>@Module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200" b="0">
                <a:solidFill>
                  <a:srgbClr val="FF6F00"/>
                </a:solidFill>
                <a:latin typeface="Consolas"/>
              </a:rPr>
              <a:t>@Provides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200" b="0">
                <a:solidFill>
                  <a:srgbClr val="FF6F00"/>
                </a:solidFill>
                <a:latin typeface="Consolas"/>
              </a:rPr>
              <a:t>@Singleton</a:t>
            </a:r>
          </a:p>
          <a:p>
            <a:pPr algn="ctr">
              <a:spcBef>
                <a:spcPts val="400"/>
              </a:spcBef>
              <a:spcAft>
                <a:spcPts val="100"/>
              </a:spcAft>
            </a:pPr>
            <a:r>
              <a:rPr sz="1200" b="0">
                <a:solidFill>
                  <a:srgbClr val="FF6F00"/>
                </a:solidFill>
                <a:latin typeface="Consolas"/>
              </a:rPr>
              <a:t>@ApplicationContext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Why Use Hilt?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Google's recommended Dependency Injection framework for Android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Compile-Time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Segoe UI"/>
              </a:rPr>
              <a:t>Catches dependency errors at build time, not runtime — avoids crashes in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5778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Annotation-Driven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Segoe UI"/>
              </a:rPr>
              <a:t>@HiltViewModel, @Inject, @Module replace hundreds of lines of manual factory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63240"/>
            <a:ext cx="55778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Scoped Lifecycles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Segoe UI"/>
              </a:rPr>
              <a:t>Dependencies tied to Android component lifecycles (Application, Activity, ViewModel)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063240"/>
            <a:ext cx="55778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2004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Reduced Boilerplate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Segoe UI"/>
              </a:rPr>
              <a:t>No manual ViewModelProvider.Factory classes needed — Hilt handles creation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55778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Segoe UI"/>
              </a:rPr>
              <a:t>Easy to add cloud sync, WorkManager, and new ViewModels in MCO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754880"/>
            <a:ext cx="55778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Google-Recommended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57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  <a:latin typeface="Segoe UI"/>
              </a:rPr>
              <a:t>Official DI solution for modern Android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6F00"/>
                </a:solidFill>
                <a:latin typeface="Segoe UI"/>
              </a:rPr>
              <a:t>Note: Hilt Gradle plugin was incompatible with AGP 9.0.1 — resolved using KSP-only approach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Hilt Module (Providing Dependencies)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AppModule — @Module @InstallIn(SingletonComponent::class)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6240" y="1234440"/>
            <a:ext cx="7833360" cy="521208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@Module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@InstallIn(SingletonComponent::class)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object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AppModule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@Provides @Singleton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provideDatabase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(@ApplicationContext context: Context):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AppDatabase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    return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AppDatabase.getDatabase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(context)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@Provides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provideInventoryDao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(database: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AppDatabase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):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InventoryDao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database.inventoryDao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@Provides @Singleton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provideCloudSyncDataSource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():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CloudSyncDataSource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NoOpCloudSyncDataSource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@Provides @Singleton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provideRepository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inventoryDao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InventoryDao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cloudSyncDataSource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CloudSyncDataSource</a:t>
            </a:r>
            <a:endParaRPr sz="11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):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InventoryRepository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InventoryRepository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inventoryDao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,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cloudSyncDataSource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@Provides @Singleton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provideConnectivityObserver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    @ApplicationContext context: Context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    ):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ConnectivityObserver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 = </a:t>
            </a:r>
            <a:r>
              <a:rPr sz="1100" dirty="0" err="1">
                <a:solidFill>
                  <a:srgbClr val="E0E0E0"/>
                </a:solidFill>
                <a:latin typeface="Consolas"/>
              </a:rPr>
              <a:t>NetworkConnectivityObserver</a:t>
            </a:r>
            <a:r>
              <a:rPr sz="1100" dirty="0">
                <a:solidFill>
                  <a:srgbClr val="E0E0E0"/>
                </a:solidFill>
                <a:latin typeface="Consolas"/>
              </a:rPr>
              <a:t>(context)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0E0E0"/>
                </a:solidFill>
                <a:latin typeface="Consolas"/>
              </a:rPr>
              <a:t>}</a:t>
            </a:r>
            <a:endParaRPr sz="1200" dirty="0">
              <a:solidFill>
                <a:srgbClr val="E0E0E0"/>
              </a:solidFill>
              <a:latin typeface="Consola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03920" y="1234440"/>
            <a:ext cx="32918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tlCol="0" anchor="ctr"/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How It Works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@Module tells Hilt this class provides dependencies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@InstallIn(SingletonComponent) = app-wide singletons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Database via factory pattern with 6 migrations inside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CloudSyncDataSource stubbed as NoOp for MCO 1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Repository receives DAO + cloud sync source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ConnectivityObserver monitors network state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@Singleton ensures one instance per dependency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Full chain resolved at compile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Data Model (Entity)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6 Room entities powering the inventory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84632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@Entity(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tableName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= "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inventory_items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indices = [Index(value = ["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assetCode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"], unique = true)]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data class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@PrimaryKey(autoGenerate = true)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id: Int =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assetCode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name: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description: String?,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category: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quantity: Int,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inUseQuantity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: Int =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condition: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status: String,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location: String?,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imageUri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: String? = null,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createdAt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: Long,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E0E0E0"/>
                </a:solidFill>
                <a:latin typeface="Consolas"/>
              </a:rPr>
              <a:t>lastUpdated</a:t>
            </a:r>
            <a:r>
              <a:rPr sz="1300" dirty="0">
                <a:solidFill>
                  <a:srgbClr val="E0E0E0"/>
                </a:solidFill>
                <a:latin typeface="Consolas"/>
              </a:rPr>
              <a:t>: Long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E0E0E0"/>
                </a:solidFill>
                <a:latin typeface="Consolas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1325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Consolas"/>
              </a:rPr>
              <a:t>InventoryItem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Segoe UI"/>
              </a:rPr>
              <a:t>Core table — asset code, quantity, condition, status,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103120"/>
            <a:ext cx="5029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2148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Consolas"/>
              </a:rPr>
              <a:t>ItemHistory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231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Segoe UI"/>
              </a:rPr>
              <a:t>Audit trail — FK cascade delete to InventoryItem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926080"/>
            <a:ext cx="5029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2971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Consolas"/>
              </a:rPr>
              <a:t>ItemUsageRecord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46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Segoe UI"/>
              </a:rPr>
              <a:t>Checkout tracking — destination, usedBy, returnReason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749039"/>
            <a:ext cx="5029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37947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Consolas"/>
              </a:rPr>
              <a:t>LocalUser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06907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Segoe UI"/>
              </a:rPr>
              <a:t>Admin/Staff accounts — unique email index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572000"/>
            <a:ext cx="5029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Consolas"/>
              </a:rPr>
              <a:t>CategoryEntity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8920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Segoe UI"/>
              </a:rPr>
              <a:t>Dynamic categories — seeded defaults + custom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5394960"/>
            <a:ext cx="5029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5440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  <a:latin typeface="Consolas"/>
              </a:rPr>
              <a:t>AssetStatusEntity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715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Segoe UI"/>
              </a:rPr>
              <a:t>Available, In-Use, Damaged, Retired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DAO (Data Access Object)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35 operations — all reads return Flow for reactive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7772400" cy="521208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@Dao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interface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InventoryDao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@Query("SELECT * FROM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inventory_items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ORDER BY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lastUpdated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DESC")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getAllItems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(): Flow&lt;List&lt;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&gt;&gt;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@Query("SELECT * FROM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inventory_items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WHERE name LIKE '%' || :q || '%'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    OR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assetCode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LIKE '%' || :q || '%'")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searchItems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(q: String): Flow&lt;List&lt;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&gt;&gt;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@Insert(onConflict =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OnConflictStrategy.REPLACE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suspend fun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insertItem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(item: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@Update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suspend fun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updateItem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(item: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@Delete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suspend fun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deleteItem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(item: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@Query("SELECT * FROM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item_usage_records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WHERE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itemId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= :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itemId</a:t>
            </a: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    AND status = 'Active'")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getActiveUsageRecordsByItem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itemId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: Int): Flow&lt;List&lt;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ItemUsageRecord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&gt;&gt;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234440"/>
            <a:ext cx="329184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tlCol="0" anchor="ctr"/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Key Points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35 total operations for full CRUD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All reads return Flow&lt;List&lt;T&gt;&gt; for reactive UI updates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suspend functions for writes (coroutine-safe)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Search by name AND asset code for barcode support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Active usage records filtered by status = 'Active'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History retrieval by item with FK relationship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User queries for authentication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Repository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Single source of truth between UI and data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7315200" cy="438912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class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InventoryRepository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private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inventoryDao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: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InventoryDao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private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cloudSyncDataSource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: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CloudSyncDataSource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NoOpCloudSyncDataSource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allItems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: Flow&lt;List&lt;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&gt;&gt; =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inventoryDao.getAllItems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categoryNames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: Flow&lt;List&lt;String&gt;&gt; =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inventoryDao.getAllCategoryNames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cloudSyncStatus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: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StateFlow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&lt;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CloudSyncStatus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&gt;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cloudSyncDataSource.status</a:t>
            </a:r>
            <a:endParaRPr sz="10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suspend fun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insertItem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(item: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): Long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itemId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inventoryDao.insertItem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(item)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cloudSyncDataSource.queueUpsertItem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item.copy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(id =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itemId.toInt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()))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    return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itemId</a:t>
            </a:r>
            <a:endParaRPr sz="10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suspend fun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updateItem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(item: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): Int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   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updatedCount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inventoryDao.updateItem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(item)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    if (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updatedCount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 &gt; 0)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cloudSyncDataSource.queueUpsertItem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(item)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    return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updatedCount</a:t>
            </a:r>
            <a:endParaRPr sz="10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getActiveUsageRecordsByItem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itemId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: Int):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        Flow&lt;List&lt;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ItemUsageRecord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&gt;&gt;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    return 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inventoryDao.getActiveUsageRecordsByItem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E0E0E0"/>
                </a:solidFill>
                <a:latin typeface="Consolas"/>
              </a:rPr>
              <a:t>itemId</a:t>
            </a:r>
            <a:r>
              <a:rPr sz="1000"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34440"/>
            <a:ext cx="3657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tlCol="0" anchor="ctr"/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Why Repository?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Hilt's AppModule provides DAO + CloudSyncDataSource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ViewModels never touch the DAO directly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CloudSyncDataSource is NoOp stub — swap for Supabase in MCO 2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Write ops queue changes to cloud sync automatically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Handles inventory, usage records, history &amp;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52160"/>
            <a:ext cx="11247120" cy="6858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Segoe UI"/>
              </a:rPr>
              <a:t>MCO 2 Ready: Add Supabase remote data source alongside DAO — ViewModel layer stays untouched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ViewModel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@HiltViewModel with reactive StateFlow state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7772400" cy="5394960"/>
          </a:xfrm>
          <a:prstGeom prst="round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@HiltViewModel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class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InventoryViewModel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@Inject constructor(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private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repository: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InventoryRepository</a:t>
            </a: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) :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ViewModel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categoryNames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: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StateFlow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&lt;List&lt;String&gt;&gt; =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repository.categoryNames</a:t>
            </a: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.map {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it.ifEmpty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{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InventoryReferenceData.defaultCategories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}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.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stateIn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viewModelScope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,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SharingStarted.WhileSubscribed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(5000),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        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InventoryReferenceData.defaultCategories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private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_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currentUserRole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=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MutableStateFlow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UserRole.Staff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val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currentUserRole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: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StateFlow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&lt;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UserRole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&gt; = _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currentUserRole.asStateFlow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useItem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(item: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, amount: Int, location: String)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if (!_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currentUserRole.value.canAdjustUsage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    _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operationError.value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 = "Your role cannot check out items"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    return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// Validate, update item, create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UsageRecord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, log history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rgbClr val="E0E0E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fun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returnItem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(item: </a:t>
            </a:r>
            <a:r>
              <a:rPr sz="1200" dirty="0" err="1">
                <a:solidFill>
                  <a:srgbClr val="E0E0E0"/>
                </a:solidFill>
                <a:latin typeface="Consolas"/>
              </a:rPr>
              <a:t>InventoryItem</a:t>
            </a:r>
            <a:r>
              <a:rPr sz="1200" dirty="0">
                <a:solidFill>
                  <a:srgbClr val="E0E0E0"/>
                </a:solidFill>
                <a:latin typeface="Consolas"/>
              </a:rPr>
              <a:t>, amount: Int, reason: String)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    // Close active usage records, restore quantities, log history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234440"/>
            <a:ext cx="329184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tlCol="0" anchor="ctr"/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Key Concepts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@HiltViewModel — Hilt creates &amp; manages lifecycle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StateFlow only — no LiveData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stateIn() with WhileSubscribed(5000ms) for efficiency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combine() merges search + filter + sort into one stream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Role permission checks in ViewModel layer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useItem: checkout with destination tracking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424242"/>
                </a:solidFill>
                <a:latin typeface="Segoe UI"/>
              </a:rPr>
              <a:t>•  returnItem: close records with reason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UI (Compose)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9 Jetpack Compose screens with Material Design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ctr"/>
          <a:lstStyle/>
          <a:p>
            <a:pPr algn="ctr">
              <a:spcBef>
                <a:spcPts val="2000"/>
              </a:spcBef>
            </a:pPr>
            <a:r>
              <a:rPr sz="1400">
                <a:solidFill>
                  <a:srgbClr val="43A047"/>
                </a:solidFill>
                <a:latin typeface="Segoe UI"/>
              </a:rPr>
              <a:t>[Screenshot]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424242"/>
                </a:solidFill>
                <a:latin typeface="Segoe UI"/>
              </a:rPr>
              <a:t>Splash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ctr"/>
          <a:lstStyle/>
          <a:p>
            <a:pPr algn="ctr">
              <a:spcBef>
                <a:spcPts val="2000"/>
              </a:spcBef>
            </a:pPr>
            <a:r>
              <a:rPr sz="1400">
                <a:solidFill>
                  <a:srgbClr val="43A047"/>
                </a:solidFill>
                <a:latin typeface="Segoe UI"/>
              </a:rPr>
              <a:t>[Screenshot]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424242"/>
                </a:solidFill>
                <a:latin typeface="Segoe UI"/>
              </a:rPr>
              <a:t>Auth /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ctr"/>
          <a:lstStyle/>
          <a:p>
            <a:pPr algn="ctr">
              <a:spcBef>
                <a:spcPts val="2000"/>
              </a:spcBef>
            </a:pPr>
            <a:r>
              <a:rPr sz="1400">
                <a:solidFill>
                  <a:srgbClr val="43A047"/>
                </a:solidFill>
                <a:latin typeface="Segoe UI"/>
              </a:rPr>
              <a:t>[Screenshot]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424242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63239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ctr"/>
          <a:lstStyle/>
          <a:p>
            <a:pPr algn="ctr">
              <a:spcBef>
                <a:spcPts val="2000"/>
              </a:spcBef>
            </a:pPr>
            <a:r>
              <a:rPr sz="1400">
                <a:solidFill>
                  <a:srgbClr val="43A047"/>
                </a:solidFill>
                <a:latin typeface="Segoe UI"/>
              </a:rPr>
              <a:t>[Screenshot]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424242"/>
                </a:solidFill>
                <a:latin typeface="Segoe UI"/>
              </a:rPr>
              <a:t>Inventory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063239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ctr"/>
          <a:lstStyle/>
          <a:p>
            <a:pPr algn="ctr">
              <a:spcBef>
                <a:spcPts val="2000"/>
              </a:spcBef>
            </a:pPr>
            <a:r>
              <a:rPr sz="1400">
                <a:solidFill>
                  <a:srgbClr val="43A047"/>
                </a:solidFill>
                <a:latin typeface="Segoe UI"/>
              </a:rPr>
              <a:t>[Screenshot]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424242"/>
                </a:solidFill>
                <a:latin typeface="Segoe UI"/>
              </a:rPr>
              <a:t>Add / Edit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063239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ctr"/>
          <a:lstStyle/>
          <a:p>
            <a:pPr algn="ctr">
              <a:spcBef>
                <a:spcPts val="2000"/>
              </a:spcBef>
            </a:pPr>
            <a:r>
              <a:rPr sz="1400">
                <a:solidFill>
                  <a:srgbClr val="43A047"/>
                </a:solidFill>
                <a:latin typeface="Segoe UI"/>
              </a:rPr>
              <a:t>[Screenshot]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424242"/>
                </a:solidFill>
                <a:latin typeface="Segoe UI"/>
              </a:rPr>
              <a:t>Item Detail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ctr"/>
          <a:lstStyle/>
          <a:p>
            <a:pPr algn="ctr">
              <a:spcBef>
                <a:spcPts val="2000"/>
              </a:spcBef>
            </a:pPr>
            <a:r>
              <a:rPr sz="1400">
                <a:solidFill>
                  <a:srgbClr val="43A047"/>
                </a:solidFill>
                <a:latin typeface="Segoe UI"/>
              </a:rPr>
              <a:t>[Screenshot]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424242"/>
                </a:solidFill>
                <a:latin typeface="Segoe UI"/>
              </a:rPr>
              <a:t>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846320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ctr"/>
          <a:lstStyle/>
          <a:p>
            <a:pPr algn="ctr">
              <a:spcBef>
                <a:spcPts val="2000"/>
              </a:spcBef>
            </a:pPr>
            <a:r>
              <a:rPr sz="1400">
                <a:solidFill>
                  <a:srgbClr val="43A047"/>
                </a:solidFill>
                <a:latin typeface="Segoe UI"/>
              </a:rPr>
              <a:t>[Screenshot]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424242"/>
                </a:solidFill>
                <a:latin typeface="Segoe UI"/>
              </a:rPr>
              <a:t>Camera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846320"/>
            <a:ext cx="35661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tlCol="0" anchor="ctr"/>
          <a:lstStyle/>
          <a:p>
            <a:pPr algn="ctr">
              <a:spcBef>
                <a:spcPts val="2000"/>
              </a:spcBef>
            </a:pPr>
            <a:r>
              <a:rPr sz="1400">
                <a:solidFill>
                  <a:srgbClr val="43A047"/>
                </a:solidFill>
                <a:latin typeface="Segoe UI"/>
              </a:rPr>
              <a:t>[Screenshot]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424242"/>
                </a:solidFill>
                <a:latin typeface="Segoe UI"/>
              </a:rPr>
              <a:t>Profile &amp;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16161"/>
                </a:solidFill>
                <a:latin typeface="Segoe UI"/>
              </a:rPr>
              <a:t>Replace placeholders with actual app screenshots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Data Flow with Hilt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Example: 'Use Item' action from tap to UI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21031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User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688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egoe UI"/>
              </a:rPr>
              <a:t>User taps 'Use' button,
enters quantity &amp; destination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77440" y="3200400"/>
            <a:ext cx="274320" cy="228600"/>
          </a:xfrm>
          <a:prstGeom prst="rightArrow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51760" y="1828800"/>
            <a:ext cx="21031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83280" y="146304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481328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ViewModel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4688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egoe UI"/>
              </a:rPr>
              <a:t>Checks role permissions
Validates quantity
@HiltViewModel injected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54880" y="3200400"/>
            <a:ext cx="274320" cy="228600"/>
          </a:xfrm>
          <a:prstGeom prst="rightArrow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0" y="1828800"/>
            <a:ext cx="21031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60720" y="146304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1481328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688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egoe UI"/>
              </a:rPr>
              <a:t>Updates item quantities
Creates ItemUsageRecord
Inserts ItemHistory
@Inject injected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32320" y="3200400"/>
            <a:ext cx="274320" cy="228600"/>
          </a:xfrm>
          <a:prstGeom prst="rightArrow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21031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138160" y="146304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1481328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Room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4688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egoe UI"/>
              </a:rPr>
              <a:t>Persists all changes locally
Emits updated Flow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09760" y="3200400"/>
            <a:ext cx="274320" cy="228600"/>
          </a:xfrm>
          <a:prstGeom prst="rightArrow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84080" y="1828800"/>
            <a:ext cx="21031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515600" y="1463040"/>
            <a:ext cx="548640" cy="54864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0" y="1481328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UI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4688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24242"/>
                </a:solidFill>
                <a:latin typeface="Segoe UI"/>
              </a:rPr>
              <a:t>StateFlow triggers
recomposition automatically
collectAsStateWithLifecycle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5E20"/>
                </a:solidFill>
                <a:latin typeface="Segoe UI"/>
              </a:rPr>
              <a:t>Key: Hilt wires ViewModel → Repository → DAO at compile time. The entire chain from user tap to UI update is reactive and automatic.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C8E6C9"/>
                </a:solidFill>
                <a:latin typeface="Segoe UI"/>
              </a:rPr>
              <a:t>SmartStock+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29184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5E9"/>
                </a:solidFill>
                <a:latin typeface="Segoe UI"/>
              </a:rPr>
              <a:t>①  App Launch → Splash → Login (bottom nav hidden)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E8F5E9"/>
                </a:solidFill>
                <a:latin typeface="Segoe UI"/>
              </a:rPr>
              <a:t>②  Admin Login → Dashboard with summary cards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E8F5E9"/>
                </a:solidFill>
                <a:latin typeface="Segoe UI"/>
              </a:rPr>
              <a:t>③  Add Item with image capture + custom category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E8F5E9"/>
                </a:solidFill>
                <a:latin typeface="Segoe UI"/>
              </a:rPr>
              <a:t>④  Search, filter, view item detail with photo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E8F5E9"/>
                </a:solidFill>
                <a:latin typeface="Segoe UI"/>
              </a:rPr>
              <a:t>⑤  Use Item → destination location tracking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E8F5E9"/>
                </a:solidFill>
                <a:latin typeface="Segoe UI"/>
              </a:rPr>
              <a:t>⑥  Return Item → reason field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E8F5E9"/>
                </a:solidFill>
                <a:latin typeface="Segoe UI"/>
              </a:rPr>
              <a:t>⑦  Condition Update (New / Good / Fair / Poor)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E8F5E9"/>
                </a:solidFill>
                <a:latin typeface="Segoe UI"/>
              </a:rPr>
              <a:t>⑧  Staff Login → restricted permissions demo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600" b="0">
                <a:solidFill>
                  <a:srgbClr val="E8F5E9"/>
                </a:solidFill>
                <a:latin typeface="Segoe UI"/>
              </a:rPr>
              <a:t>⑨  Offline functionality — everything works without internet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MCO 1 deliverables verified by QA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2157984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1883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Room DB v7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egoe UI"/>
              </a:rPr>
              <a:t>6 entities, 6 migrations,
35 DAO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15184" y="1371600"/>
            <a:ext cx="2157984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52344" y="1600200"/>
            <a:ext cx="1883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Hilt 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2344" y="2103120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egoe UI"/>
              </a:rPr>
              <a:t>KSP-based injection,
AGP 9.0.1 compatible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6048" y="1371600"/>
            <a:ext cx="2157984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93208" y="1600200"/>
            <a:ext cx="1883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Offline-First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103120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egoe UI"/>
              </a:rPr>
              <a:t>Full functionality
without internet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1371600"/>
            <a:ext cx="2157984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34072" y="1600200"/>
            <a:ext cx="1883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Auth +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2103120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egoe UI"/>
              </a:rPr>
              <a:t>Admin/Staff login,
6 granular permissions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37776" y="1371600"/>
            <a:ext cx="2157984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74936" y="1600200"/>
            <a:ext cx="1883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Usage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4936" y="2103120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egoe UI"/>
              </a:rPr>
              <a:t>Checkout with destination,
return with reason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931920"/>
            <a:ext cx="2157984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160520"/>
            <a:ext cx="1883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Image 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663440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egoe UI"/>
              </a:rPr>
              <a:t>Camera + gallery,
Coil display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15184" y="3931920"/>
            <a:ext cx="2157984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52344" y="4160520"/>
            <a:ext cx="1883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Barcode 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52344" y="4663440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egoe UI"/>
              </a:rPr>
              <a:t>GMS scanner,
inventory lookup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56048" y="3931920"/>
            <a:ext cx="2157984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93208" y="4160520"/>
            <a:ext cx="1883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Adaptive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4663440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egoe UI"/>
              </a:rPr>
              <a:t>Bottom nav + rail,
WindowSizeClass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3931920"/>
            <a:ext cx="2157984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34072" y="4160520"/>
            <a:ext cx="1883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Dark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2" y="4663440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egoe UI"/>
              </a:rPr>
              <a:t>MD3 dynamic theming,
light/dark toggle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37776" y="3931920"/>
            <a:ext cx="2157984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74936" y="4160520"/>
            <a:ext cx="1883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E20"/>
                </a:solidFill>
                <a:latin typeface="Segoe UI"/>
              </a:rPr>
              <a:t>9 Screens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4936" y="4663440"/>
            <a:ext cx="18836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24242"/>
                </a:solidFill>
                <a:latin typeface="Segoe UI"/>
              </a:rPr>
              <a:t>Reactive StateFlow,
collectAsStateWithLifecycle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Challenges Encountered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Technical hurdles and how we resolved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  <a:latin typeface="Segoe UI"/>
              </a:rPr>
              <a:t>Hilt + AGP 9.0.1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3258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Segoe UI"/>
              </a:rPr>
              <a:t>Problem: Hilt Gradle plugin dropped BaseExtension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91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egoe UI"/>
              </a:rPr>
              <a:t>Solution: KSP-only approach — extend Hilt_SmartStockApp() directly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59152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  <a:latin typeface="Segoe UI"/>
              </a:rPr>
              <a:t>Room Migration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04872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Segoe UI"/>
              </a:rPr>
              <a:t>Problem: 7 schema versions with data preservation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7063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egoe UI"/>
              </a:rPr>
              <a:t>Solution: Careful ALTER TABLE SQL + thorough migration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38144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48386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  <a:latin typeface="Segoe UI"/>
              </a:rPr>
              <a:t>Flow in Coroutines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83864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Segoe UI"/>
              </a:rPr>
              <a:t>Problem: collect() inside launch suspends indefinitely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84962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egoe UI"/>
              </a:rPr>
              <a:t>Solution: Used .first() for one-shot queries within coroutines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17136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6285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  <a:latin typeface="Segoe UI"/>
              </a:rPr>
              <a:t>Reactive State 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562856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Segoe UI"/>
              </a:rPr>
              <a:t>Problem: Merging search + filter + sort + role streams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928616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egoe UI"/>
              </a:rPr>
              <a:t>Solution: Kotlin combine operator for race-condition-free merging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96127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641847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  <a:latin typeface="Segoe UI"/>
              </a:rPr>
              <a:t>Camera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641847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Segoe UI"/>
              </a:rPr>
              <a:t>Problem: FileProvider + runtime permissions + content URIs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6007607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egoe UI"/>
              </a:rPr>
              <a:t>Solution: Proper provider config, permission launcher, cache directory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Preparation for Final Term (MCO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E6C9"/>
                </a:solidFill>
                <a:latin typeface="Segoe UI"/>
              </a:rPr>
              <a:t>Building on the MCO 1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Cloud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00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egoe UI"/>
              </a:rPr>
              <a:t>Supabase integration for real-time cross-device data synchronization.
Repository layer already abstracts data — just add remote source.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44144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317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Usage Tracking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51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egoe UI"/>
              </a:rPr>
              <a:t>Dedicated screen for Staff to view all checked-out items,
locations, and who checked them out. Monthly/annual reporting with date filters.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474719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493007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7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Background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0331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egoe UI"/>
              </a:rPr>
              <a:t>WorkManager for reliable offline-to-cloud sync.
Pending changes sync automatically when connectivity restored.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54456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348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Enhanced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egoe UI"/>
              </a:rPr>
              <a:t>Improved barcode/QR flow with auto-match
and batch scanning support.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5778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596128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86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Segoe UI"/>
              </a:rPr>
              <a:t>UI Polish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806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egoe UI"/>
              </a:rPr>
              <a:t>Two-pane empty state improvements,
Compose animations, and remaining instructor recommendations.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011680"/>
            <a:ext cx="7589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8F5E9"/>
                </a:solidFill>
                <a:latin typeface="Segoe UI"/>
              </a:rPr>
              <a:t>✓  Fully functional offline-first inventory management system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700" b="0">
                <a:solidFill>
                  <a:srgbClr val="E8F5E9"/>
                </a:solidFill>
                <a:latin typeface="Segoe UI"/>
              </a:rPr>
              <a:t>✓  Clean MVVM architecture with Hilt Dependency Injection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700" b="0">
                <a:solidFill>
                  <a:srgbClr val="E8F5E9"/>
                </a:solidFill>
                <a:latin typeface="Segoe UI"/>
              </a:rPr>
              <a:t>✓  Room Database v7 — 6 entities, 35 DAO operations, 6 migrations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700" b="0">
                <a:solidFill>
                  <a:srgbClr val="E8F5E9"/>
                </a:solidFill>
                <a:latin typeface="Segoe UI"/>
              </a:rPr>
              <a:t>✓  9 Jetpack Compose screens with Material Design 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700" b="0">
                <a:solidFill>
                  <a:srgbClr val="E8F5E9"/>
                </a:solidFill>
                <a:latin typeface="Segoe UI"/>
              </a:rPr>
              <a:t>✓  Role-based authentication with granular permissions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700" b="0">
                <a:solidFill>
                  <a:srgbClr val="E8F5E9"/>
                </a:solidFill>
                <a:latin typeface="Segoe UI"/>
              </a:rPr>
              <a:t>✓  Usage tracking with destination locations and return reasons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700" b="0">
                <a:solidFill>
                  <a:srgbClr val="E8F5E9"/>
                </a:solidFill>
                <a:latin typeface="Segoe UI"/>
              </a:rPr>
              <a:t>✓  Image capture, barcode scanning, and adaptive layouts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700" b="0">
                <a:solidFill>
                  <a:srgbClr val="E8F5E9"/>
                </a:solidFill>
                <a:latin typeface="Segoe UI"/>
              </a:rPr>
              <a:t>✓  Architecture ready for MCO 2 cloud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228" y="5669280"/>
            <a:ext cx="164705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C107"/>
                </a:solidFill>
                <a:latin typeface="Segoe U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5D6A7"/>
                </a:solidFill>
                <a:latin typeface="Segoe UI"/>
              </a:rPr>
              <a:t>Team 2  |  SmartStock+  |  Mobile Programming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2411</Words>
  <Application>Microsoft Office PowerPoint</Application>
  <PresentationFormat>Widescreen</PresentationFormat>
  <Paragraphs>396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Jhon Clarence Rulona</cp:lastModifiedBy>
  <cp:revision>3</cp:revision>
  <dcterms:created xsi:type="dcterms:W3CDTF">2013-01-27T09:14:16Z</dcterms:created>
  <dcterms:modified xsi:type="dcterms:W3CDTF">2026-04-13T02:46:30Z</dcterms:modified>
  <cp:category/>
</cp:coreProperties>
</file>